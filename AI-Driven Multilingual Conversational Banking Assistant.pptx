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0" autoAdjust="0"/>
    <p:restoredTop sz="94660"/>
  </p:normalViewPr>
  <p:slideViewPr>
    <p:cSldViewPr snapToGrid="0">
      <p:cViewPr varScale="1">
        <p:scale>
          <a:sx n="87" d="100"/>
          <a:sy n="87" d="100"/>
        </p:scale>
        <p:origin x="36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069CB8-F204-4D06-B913-C5A26A89888A}" type="datetimeFigureOut">
              <a:rPr lang="en-US" dirty="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0BB376-B19C-488D-ABEB-03C7E6E9E3E0}" type="datetimeFigureOut">
              <a:rPr lang="en-US" dirty="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9E2A62-1983-43A1-A163-D8AA46534C80}" type="datetimeFigureOut">
              <a:rPr lang="en-US" dirty="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8F3E3B-34E3-4345-B2A1-994B83598A9C}" type="datetimeFigureOut">
              <a:rPr lang="en-US" dirty="0"/>
              <a:t>3/8/2026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816C96-82A1-4D77-8ADA-627AC6FE3D65}" type="datetimeFigureOut">
              <a:rPr lang="en-US" dirty="0"/>
              <a:t>3/8/2026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3/8/2026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3/8/2026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B6E300-0A13-4A81-945A-7333C271A069}" type="datetimeFigureOut">
              <a:rPr lang="en-US" dirty="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671962-1EA4-46E7-BCB0-F36CE46D1A59}" type="datetimeFigureOut">
              <a:rPr lang="en-US" dirty="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3/8/2026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flask.palletsprojects.com/" TargetMode="External"/><Relationship Id="rId3" Type="http://schemas.openxmlformats.org/officeDocument/2006/relationships/hyperlink" Target="https://dl.acm.org/" TargetMode="External"/><Relationship Id="rId7" Type="http://schemas.openxmlformats.org/officeDocument/2006/relationships/hyperlink" Target="https://developer.exotel.com/" TargetMode="External"/><Relationship Id="rId2" Type="http://schemas.openxmlformats.org/officeDocument/2006/relationships/hyperlink" Target="https://link.springer.com/" TargetMode="External"/><Relationship Id="rId1" Type="http://schemas.openxmlformats.org/officeDocument/2006/relationships/slideLayout" Target="../slideLayouts/slideLayout2.xml"/><Relationship Id="rId6" Type="http://schemas.openxmlformats.org/officeDocument/2006/relationships/hyperlink" Target="https://docs.elevenlabs.io/" TargetMode="External"/><Relationship Id="rId5" Type="http://schemas.openxmlformats.org/officeDocument/2006/relationships/hyperlink" Target="https://platform.openai.com/docs" TargetMode="External"/><Relationship Id="rId4" Type="http://schemas.openxmlformats.org/officeDocument/2006/relationships/hyperlink" Target="https://www.assemblyai.com/do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F2B0-1E70-DB4B-C08A-FA2322135DD7}"/>
              </a:ext>
            </a:extLst>
          </p:cNvPr>
          <p:cNvSpPr>
            <a:spLocks noGrp="1"/>
          </p:cNvSpPr>
          <p:nvPr>
            <p:ph type="ctrTitle"/>
          </p:nvPr>
        </p:nvSpPr>
        <p:spPr/>
        <p:txBody>
          <a:bodyPr/>
          <a:lstStyle/>
          <a:p>
            <a:r>
              <a:rPr lang="en-US" b="1" dirty="0">
                <a:latin typeface="Agency FB" panose="020B0503020202020204" pitchFamily="34" charset="0"/>
              </a:rPr>
              <a:t>AI-Driven Multilingual Conversational Banking Assistant</a:t>
            </a:r>
            <a:endParaRPr lang="en-US" dirty="0">
              <a:latin typeface="Agency FB" panose="020B0503020202020204" pitchFamily="34" charset="0"/>
            </a:endParaRPr>
          </a:p>
        </p:txBody>
      </p:sp>
      <p:sp>
        <p:nvSpPr>
          <p:cNvPr id="3" name="Subtitle 2">
            <a:extLst>
              <a:ext uri="{FF2B5EF4-FFF2-40B4-BE49-F238E27FC236}">
                <a16:creationId xmlns:a16="http://schemas.microsoft.com/office/drawing/2014/main" id="{2F1A1A51-1E05-2972-3F9D-0BA73503D89E}"/>
              </a:ext>
            </a:extLst>
          </p:cNvPr>
          <p:cNvSpPr>
            <a:spLocks noGrp="1"/>
          </p:cNvSpPr>
          <p:nvPr>
            <p:ph type="subTitle" idx="1"/>
          </p:nvPr>
        </p:nvSpPr>
        <p:spPr/>
        <p:txBody>
          <a:bodyPr/>
          <a:lstStyle/>
          <a:p>
            <a:r>
              <a:rPr lang="en-US" dirty="0"/>
              <a:t>E. RAMKISHORE, R. VAISHAVI</a:t>
            </a:r>
          </a:p>
          <a:p>
            <a:r>
              <a:rPr lang="en-US" dirty="0"/>
              <a:t>MENTOR : DR. R. Arthi </a:t>
            </a:r>
            <a:r>
              <a:rPr lang="en-US" dirty="0" err="1"/>
              <a:t>rengaraj</a:t>
            </a:r>
            <a:r>
              <a:rPr lang="en-US" dirty="0"/>
              <a:t> </a:t>
            </a:r>
          </a:p>
        </p:txBody>
      </p:sp>
    </p:spTree>
    <p:extLst>
      <p:ext uri="{BB962C8B-B14F-4D97-AF65-F5344CB8AC3E}">
        <p14:creationId xmlns:p14="http://schemas.microsoft.com/office/powerpoint/2010/main" val="3420047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5D48F-67BB-1F70-3741-E38C1FAFD6FD}"/>
              </a:ext>
            </a:extLst>
          </p:cNvPr>
          <p:cNvSpPr>
            <a:spLocks noGrp="1"/>
          </p:cNvSpPr>
          <p:nvPr>
            <p:ph type="title"/>
          </p:nvPr>
        </p:nvSpPr>
        <p:spPr/>
        <p:txBody>
          <a:bodyPr/>
          <a:lstStyle/>
          <a:p>
            <a:r>
              <a:rPr lang="en-US" b="1" dirty="0">
                <a:latin typeface="Arial Black" panose="020B0A04020102020204" pitchFamily="34" charset="0"/>
              </a:rPr>
              <a:t>SOLUTION</a:t>
            </a:r>
            <a:r>
              <a:rPr lang="en-US" b="1" dirty="0"/>
              <a:t> </a:t>
            </a:r>
            <a:endParaRPr lang="en-US" dirty="0"/>
          </a:p>
        </p:txBody>
      </p:sp>
      <p:sp>
        <p:nvSpPr>
          <p:cNvPr id="3" name="Content Placeholder 2">
            <a:extLst>
              <a:ext uri="{FF2B5EF4-FFF2-40B4-BE49-F238E27FC236}">
                <a16:creationId xmlns:a16="http://schemas.microsoft.com/office/drawing/2014/main" id="{D56233E6-6376-F05A-32C0-39ABB0791A88}"/>
              </a:ext>
            </a:extLst>
          </p:cNvPr>
          <p:cNvSpPr>
            <a:spLocks noGrp="1"/>
          </p:cNvSpPr>
          <p:nvPr>
            <p:ph idx="1"/>
          </p:nvPr>
        </p:nvSpPr>
        <p:spPr/>
        <p:txBody>
          <a:bodyPr>
            <a:normAutofit/>
          </a:bodyPr>
          <a:lstStyle/>
          <a:p>
            <a:pPr algn="just">
              <a:lnSpc>
                <a:spcPct val="100000"/>
              </a:lnSpc>
            </a:pPr>
            <a:r>
              <a:rPr lang="en-US" sz="2400" dirty="0">
                <a:latin typeface="Calibri" panose="020F0502020204030204" pitchFamily="34" charset="0"/>
                <a:ea typeface="Calibri" panose="020F0502020204030204" pitchFamily="34" charset="0"/>
                <a:cs typeface="Calibri" panose="020F0502020204030204" pitchFamily="34" charset="0"/>
              </a:rPr>
              <a:t>The proposed system is a multilingual voice-based banking interface that allows users to perform banking operations using simple voice commands in regional languages. Using advanced speech recognition and natural language processing, the system understands user queries, detects their intent, and securely executes actions such as balance inquiries, transaction checks, and fund transfers. The platform also provides real-time voice responses for a natural conversational experience. In addition, the AI performs emotion analysis on the user’s voice to detect stress, confusion, or urgency, allowing the system to respond more intelligently and provide better assistance. This solution improves accessibility for elderly users, rural populations, and individuals with limited digital literacy.</a:t>
            </a:r>
          </a:p>
        </p:txBody>
      </p:sp>
    </p:spTree>
    <p:extLst>
      <p:ext uri="{BB962C8B-B14F-4D97-AF65-F5344CB8AC3E}">
        <p14:creationId xmlns:p14="http://schemas.microsoft.com/office/powerpoint/2010/main" val="3798241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FB048-17B1-6996-F5CB-81D51B3C7B4B}"/>
              </a:ext>
            </a:extLst>
          </p:cNvPr>
          <p:cNvSpPr>
            <a:spLocks noGrp="1"/>
          </p:cNvSpPr>
          <p:nvPr>
            <p:ph type="title"/>
          </p:nvPr>
        </p:nvSpPr>
        <p:spPr/>
        <p:txBody>
          <a:bodyPr/>
          <a:lstStyle/>
          <a:p>
            <a:r>
              <a:rPr lang="en-US" b="1" dirty="0">
                <a:latin typeface="Arial Black" panose="020B0A04020102020204" pitchFamily="34" charset="0"/>
              </a:rPr>
              <a:t>INNOVATION</a:t>
            </a:r>
            <a:endParaRPr lang="en-US" dirty="0">
              <a:latin typeface="Arial Black" panose="020B0A04020102020204" pitchFamily="34" charset="0"/>
            </a:endParaRPr>
          </a:p>
        </p:txBody>
      </p:sp>
      <p:sp>
        <p:nvSpPr>
          <p:cNvPr id="3" name="Content Placeholder 2">
            <a:extLst>
              <a:ext uri="{FF2B5EF4-FFF2-40B4-BE49-F238E27FC236}">
                <a16:creationId xmlns:a16="http://schemas.microsoft.com/office/drawing/2014/main" id="{950ACEED-B01D-55AB-ED64-D33F66038EF7}"/>
              </a:ext>
            </a:extLst>
          </p:cNvPr>
          <p:cNvSpPr>
            <a:spLocks noGrp="1"/>
          </p:cNvSpPr>
          <p:nvPr>
            <p:ph idx="1"/>
          </p:nvPr>
        </p:nvSpPr>
        <p:spPr>
          <a:xfrm>
            <a:off x="1097281" y="1845734"/>
            <a:ext cx="4806085" cy="4023360"/>
          </a:xfrm>
        </p:spPr>
        <p:txBody>
          <a:bodyPr>
            <a:noAutofit/>
          </a:bodyPr>
          <a:lstStyle/>
          <a:p>
            <a:pPr>
              <a:buFont typeface="Wingdings" panose="05000000000000000000" pitchFamily="2" charset="2"/>
              <a:buChar char="Ø"/>
            </a:pPr>
            <a:r>
              <a:rPr lang="en-US" sz="1400" dirty="0">
                <a:latin typeface="Calibri" panose="020F0502020204030204" pitchFamily="34" charset="0"/>
                <a:ea typeface="Calibri" panose="020F0502020204030204" pitchFamily="34" charset="0"/>
                <a:cs typeface="Calibri" panose="020F0502020204030204" pitchFamily="34" charset="0"/>
              </a:rPr>
              <a:t>Integrates multilingual voice interaction, allowing users to communicate with banking services in their preferred regional language.</a:t>
            </a:r>
          </a:p>
          <a:p>
            <a:pPr>
              <a:buFont typeface="Wingdings" panose="05000000000000000000" pitchFamily="2" charset="2"/>
              <a:buChar char="Ø"/>
            </a:pPr>
            <a:r>
              <a:rPr lang="en-US" sz="1400" dirty="0">
                <a:latin typeface="Calibri" panose="020F0502020204030204" pitchFamily="34" charset="0"/>
                <a:ea typeface="Calibri" panose="020F0502020204030204" pitchFamily="34" charset="0"/>
                <a:cs typeface="Calibri" panose="020F0502020204030204" pitchFamily="34" charset="0"/>
              </a:rPr>
              <a:t>Uses advanced AI and natural language processing to accurately understand user intent and process banking requests.</a:t>
            </a:r>
          </a:p>
          <a:p>
            <a:pPr>
              <a:buFont typeface="Wingdings" panose="05000000000000000000" pitchFamily="2" charset="2"/>
              <a:buChar char="Ø"/>
            </a:pPr>
            <a:r>
              <a:rPr lang="en-US" sz="1400" dirty="0">
                <a:latin typeface="Calibri" panose="020F0502020204030204" pitchFamily="34" charset="0"/>
                <a:ea typeface="Calibri" panose="020F0502020204030204" pitchFamily="34" charset="0"/>
                <a:cs typeface="Calibri" panose="020F0502020204030204" pitchFamily="34" charset="0"/>
              </a:rPr>
              <a:t>Incorporates emotion analysis, enabling the system to detect stress, confusion, or urgency from the user’s voice and respond more intelligently.</a:t>
            </a:r>
          </a:p>
          <a:p>
            <a:pPr>
              <a:buFont typeface="Wingdings" panose="05000000000000000000" pitchFamily="2" charset="2"/>
              <a:buChar char="Ø"/>
            </a:pPr>
            <a:r>
              <a:rPr lang="en-US" sz="1400" dirty="0">
                <a:latin typeface="Calibri" panose="020F0502020204030204" pitchFamily="34" charset="0"/>
                <a:ea typeface="Calibri" panose="020F0502020204030204" pitchFamily="34" charset="0"/>
                <a:cs typeface="Calibri" panose="020F0502020204030204" pitchFamily="34" charset="0"/>
              </a:rPr>
              <a:t>Provides a conversational AI experience that makes digital banking more natural and user-friendly compared to traditional app interfaces.</a:t>
            </a:r>
          </a:p>
          <a:p>
            <a:pPr>
              <a:buFont typeface="Wingdings" panose="05000000000000000000" pitchFamily="2" charset="2"/>
              <a:buChar char="Ø"/>
            </a:pPr>
            <a:r>
              <a:rPr lang="en-US" sz="1400" dirty="0">
                <a:latin typeface="Calibri" panose="020F0502020204030204" pitchFamily="34" charset="0"/>
                <a:ea typeface="Calibri" panose="020F0502020204030204" pitchFamily="34" charset="0"/>
                <a:cs typeface="Calibri" panose="020F0502020204030204" pitchFamily="34" charset="0"/>
              </a:rPr>
              <a:t>Combines voice recognition, emotion-aware AI, and secure banking automation into a single intelligent assistant.</a:t>
            </a:r>
          </a:p>
          <a:p>
            <a:pPr>
              <a:buFont typeface="Wingdings" panose="05000000000000000000" pitchFamily="2" charset="2"/>
              <a:buChar char="Ø"/>
            </a:pPr>
            <a:r>
              <a:rPr lang="en-US" sz="1400" dirty="0">
                <a:latin typeface="Calibri" panose="020F0502020204030204" pitchFamily="34" charset="0"/>
                <a:ea typeface="Calibri" panose="020F0502020204030204" pitchFamily="34" charset="0"/>
                <a:cs typeface="Calibri" panose="020F0502020204030204" pitchFamily="34" charset="0"/>
              </a:rPr>
              <a:t>Promotes inclusive digital banking by making financial services accessible to non-technical users, elderly individuals, and rural communities.</a:t>
            </a:r>
          </a:p>
          <a:p>
            <a:pPr>
              <a:buFont typeface="Wingdings" panose="05000000000000000000" pitchFamily="2" charset="2"/>
              <a:buChar char="Ø"/>
            </a:pPr>
            <a:endParaRPr lang="en-US" sz="14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FDF4D60-33F7-A408-98FC-92BE9C2F691B}"/>
              </a:ext>
            </a:extLst>
          </p:cNvPr>
          <p:cNvPicPr>
            <a:picLocks noChangeAspect="1"/>
          </p:cNvPicPr>
          <p:nvPr/>
        </p:nvPicPr>
        <p:blipFill>
          <a:blip r:embed="rId2"/>
          <a:stretch>
            <a:fillRect/>
          </a:stretch>
        </p:blipFill>
        <p:spPr>
          <a:xfrm>
            <a:off x="6008217" y="2245767"/>
            <a:ext cx="5894828" cy="2933396"/>
          </a:xfrm>
          <a:prstGeom prst="rect">
            <a:avLst/>
          </a:prstGeom>
        </p:spPr>
      </p:pic>
    </p:spTree>
    <p:extLst>
      <p:ext uri="{BB962C8B-B14F-4D97-AF65-F5344CB8AC3E}">
        <p14:creationId xmlns:p14="http://schemas.microsoft.com/office/powerpoint/2010/main" val="1946044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B1B96-3B3A-1419-3E12-B3EB5965F1B3}"/>
              </a:ext>
            </a:extLst>
          </p:cNvPr>
          <p:cNvSpPr>
            <a:spLocks noGrp="1"/>
          </p:cNvSpPr>
          <p:nvPr>
            <p:ph type="title"/>
          </p:nvPr>
        </p:nvSpPr>
        <p:spPr/>
        <p:txBody>
          <a:bodyPr/>
          <a:lstStyle/>
          <a:p>
            <a:r>
              <a:rPr lang="en-US" dirty="0">
                <a:latin typeface="Arial Black" panose="020B0A04020102020204" pitchFamily="34" charset="0"/>
              </a:rPr>
              <a:t>TECHNICAL APPROACH</a:t>
            </a:r>
          </a:p>
        </p:txBody>
      </p:sp>
      <p:sp>
        <p:nvSpPr>
          <p:cNvPr id="4" name="Flowchart: Alternate Process 3">
            <a:extLst>
              <a:ext uri="{FF2B5EF4-FFF2-40B4-BE49-F238E27FC236}">
                <a16:creationId xmlns:a16="http://schemas.microsoft.com/office/drawing/2014/main" id="{35D4BDD2-2A52-41CA-517F-C5F111E3E641}"/>
              </a:ext>
            </a:extLst>
          </p:cNvPr>
          <p:cNvSpPr/>
          <p:nvPr/>
        </p:nvSpPr>
        <p:spPr>
          <a:xfrm>
            <a:off x="1302512" y="1917259"/>
            <a:ext cx="2531060" cy="1223400"/>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CALL</a:t>
            </a:r>
          </a:p>
        </p:txBody>
      </p:sp>
      <p:sp>
        <p:nvSpPr>
          <p:cNvPr id="7" name="Flowchart: Alternate Process 6">
            <a:extLst>
              <a:ext uri="{FF2B5EF4-FFF2-40B4-BE49-F238E27FC236}">
                <a16:creationId xmlns:a16="http://schemas.microsoft.com/office/drawing/2014/main" id="{32F89B59-F236-E568-170E-0AE9A5E007DC}"/>
              </a:ext>
            </a:extLst>
          </p:cNvPr>
          <p:cNvSpPr/>
          <p:nvPr/>
        </p:nvSpPr>
        <p:spPr>
          <a:xfrm>
            <a:off x="5152745" y="1917259"/>
            <a:ext cx="2531060" cy="122340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EXOTEL VIRTUAL NUMBER</a:t>
            </a:r>
          </a:p>
        </p:txBody>
      </p:sp>
      <p:sp>
        <p:nvSpPr>
          <p:cNvPr id="8" name="Flowchart: Alternate Process 7">
            <a:extLst>
              <a:ext uri="{FF2B5EF4-FFF2-40B4-BE49-F238E27FC236}">
                <a16:creationId xmlns:a16="http://schemas.microsoft.com/office/drawing/2014/main" id="{1E2354E6-9B26-F2E0-1ABF-01D62A5B55A8}"/>
              </a:ext>
            </a:extLst>
          </p:cNvPr>
          <p:cNvSpPr/>
          <p:nvPr/>
        </p:nvSpPr>
        <p:spPr>
          <a:xfrm>
            <a:off x="8703056" y="1917259"/>
            <a:ext cx="2531060" cy="1223400"/>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EXOTEL WEBHOOK TO FLASK BACKEND</a:t>
            </a:r>
          </a:p>
        </p:txBody>
      </p:sp>
      <p:sp>
        <p:nvSpPr>
          <p:cNvPr id="9" name="Flowchart: Alternate Process 8">
            <a:extLst>
              <a:ext uri="{FF2B5EF4-FFF2-40B4-BE49-F238E27FC236}">
                <a16:creationId xmlns:a16="http://schemas.microsoft.com/office/drawing/2014/main" id="{F5549559-7FA3-3CD2-9BA1-27722F66581A}"/>
              </a:ext>
            </a:extLst>
          </p:cNvPr>
          <p:cNvSpPr/>
          <p:nvPr/>
        </p:nvSpPr>
        <p:spPr>
          <a:xfrm>
            <a:off x="8703056" y="3535069"/>
            <a:ext cx="2531060" cy="122340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ASSEMBLY AI (SPEECH TO TEXT)</a:t>
            </a:r>
          </a:p>
        </p:txBody>
      </p:sp>
      <p:sp>
        <p:nvSpPr>
          <p:cNvPr id="10" name="Flowchart: Alternate Process 9">
            <a:extLst>
              <a:ext uri="{FF2B5EF4-FFF2-40B4-BE49-F238E27FC236}">
                <a16:creationId xmlns:a16="http://schemas.microsoft.com/office/drawing/2014/main" id="{0E1D97B1-DF25-1EA9-F39E-ADD3EE4448B6}"/>
              </a:ext>
            </a:extLst>
          </p:cNvPr>
          <p:cNvSpPr/>
          <p:nvPr/>
        </p:nvSpPr>
        <p:spPr>
          <a:xfrm>
            <a:off x="8703056" y="5018835"/>
            <a:ext cx="2531060" cy="1223400"/>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USER </a:t>
            </a:r>
          </a:p>
        </p:txBody>
      </p:sp>
      <p:sp>
        <p:nvSpPr>
          <p:cNvPr id="11" name="Flowchart: Alternate Process 10">
            <a:extLst>
              <a:ext uri="{FF2B5EF4-FFF2-40B4-BE49-F238E27FC236}">
                <a16:creationId xmlns:a16="http://schemas.microsoft.com/office/drawing/2014/main" id="{73539DF9-B9E8-C9CA-B1EE-274BAE5D91F1}"/>
              </a:ext>
            </a:extLst>
          </p:cNvPr>
          <p:cNvSpPr/>
          <p:nvPr/>
        </p:nvSpPr>
        <p:spPr>
          <a:xfrm>
            <a:off x="5152745" y="3535069"/>
            <a:ext cx="2531060" cy="1223400"/>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OPEN AI (INTENT + PROCESSING)</a:t>
            </a:r>
          </a:p>
        </p:txBody>
      </p:sp>
      <p:sp>
        <p:nvSpPr>
          <p:cNvPr id="12" name="Flowchart: Alternate Process 11">
            <a:extLst>
              <a:ext uri="{FF2B5EF4-FFF2-40B4-BE49-F238E27FC236}">
                <a16:creationId xmlns:a16="http://schemas.microsoft.com/office/drawing/2014/main" id="{F8F0EF73-784F-52AA-B549-3AD294577715}"/>
              </a:ext>
            </a:extLst>
          </p:cNvPr>
          <p:cNvSpPr/>
          <p:nvPr/>
        </p:nvSpPr>
        <p:spPr>
          <a:xfrm>
            <a:off x="1302512" y="3535069"/>
            <a:ext cx="2531060" cy="122340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BANK DATABASE (RMBI)</a:t>
            </a:r>
          </a:p>
        </p:txBody>
      </p:sp>
      <p:sp>
        <p:nvSpPr>
          <p:cNvPr id="14" name="Flowchart: Alternate Process 13">
            <a:extLst>
              <a:ext uri="{FF2B5EF4-FFF2-40B4-BE49-F238E27FC236}">
                <a16:creationId xmlns:a16="http://schemas.microsoft.com/office/drawing/2014/main" id="{BF944A56-DA65-5A32-EFFA-6C75BC1DE6AF}"/>
              </a:ext>
            </a:extLst>
          </p:cNvPr>
          <p:cNvSpPr/>
          <p:nvPr/>
        </p:nvSpPr>
        <p:spPr>
          <a:xfrm>
            <a:off x="1302512" y="5018835"/>
            <a:ext cx="2531060" cy="1223400"/>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ELEVENLABS (TEXT TO SPEECH)</a:t>
            </a:r>
          </a:p>
        </p:txBody>
      </p:sp>
      <p:sp>
        <p:nvSpPr>
          <p:cNvPr id="15" name="Flowchart: Alternate Process 14">
            <a:extLst>
              <a:ext uri="{FF2B5EF4-FFF2-40B4-BE49-F238E27FC236}">
                <a16:creationId xmlns:a16="http://schemas.microsoft.com/office/drawing/2014/main" id="{730ACE4D-CC38-0A75-13F7-56947C58157B}"/>
              </a:ext>
            </a:extLst>
          </p:cNvPr>
          <p:cNvSpPr/>
          <p:nvPr/>
        </p:nvSpPr>
        <p:spPr>
          <a:xfrm>
            <a:off x="5152745" y="5018835"/>
            <a:ext cx="2531060" cy="122340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VOICE RESPONSE VIA EXOTEL</a:t>
            </a:r>
          </a:p>
        </p:txBody>
      </p:sp>
      <p:cxnSp>
        <p:nvCxnSpPr>
          <p:cNvPr id="17" name="Straight Arrow Connector 16">
            <a:extLst>
              <a:ext uri="{FF2B5EF4-FFF2-40B4-BE49-F238E27FC236}">
                <a16:creationId xmlns:a16="http://schemas.microsoft.com/office/drawing/2014/main" id="{2D48FAB9-5EDE-7E9F-9BBA-B185BAE0780D}"/>
              </a:ext>
            </a:extLst>
          </p:cNvPr>
          <p:cNvCxnSpPr>
            <a:cxnSpLocks/>
            <a:stCxn id="4" idx="3"/>
            <a:endCxn id="7" idx="1"/>
          </p:cNvCxnSpPr>
          <p:nvPr/>
        </p:nvCxnSpPr>
        <p:spPr>
          <a:xfrm>
            <a:off x="3833572" y="2528959"/>
            <a:ext cx="131917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E217197D-F3CA-8375-3DBE-9E33DC2BCB3C}"/>
              </a:ext>
            </a:extLst>
          </p:cNvPr>
          <p:cNvCxnSpPr>
            <a:stCxn id="7" idx="3"/>
            <a:endCxn id="8" idx="1"/>
          </p:cNvCxnSpPr>
          <p:nvPr/>
        </p:nvCxnSpPr>
        <p:spPr>
          <a:xfrm>
            <a:off x="7683805" y="2528959"/>
            <a:ext cx="10192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CA91A832-6D3E-072E-3AFB-4E66FAA4E9BC}"/>
              </a:ext>
            </a:extLst>
          </p:cNvPr>
          <p:cNvCxnSpPr>
            <a:stCxn id="8" idx="2"/>
            <a:endCxn id="9" idx="0"/>
          </p:cNvCxnSpPr>
          <p:nvPr/>
        </p:nvCxnSpPr>
        <p:spPr>
          <a:xfrm>
            <a:off x="9968586" y="3140659"/>
            <a:ext cx="0" cy="3944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CA8C2A29-4FAB-E396-CDAC-C919BA8F2234}"/>
              </a:ext>
            </a:extLst>
          </p:cNvPr>
          <p:cNvCxnSpPr>
            <a:stCxn id="9" idx="1"/>
            <a:endCxn id="11" idx="3"/>
          </p:cNvCxnSpPr>
          <p:nvPr/>
        </p:nvCxnSpPr>
        <p:spPr>
          <a:xfrm flipH="1">
            <a:off x="7683805" y="4146769"/>
            <a:ext cx="10192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FA425424-B11A-5CA1-68B0-1EEADF387853}"/>
              </a:ext>
            </a:extLst>
          </p:cNvPr>
          <p:cNvCxnSpPr>
            <a:stCxn id="11" idx="1"/>
            <a:endCxn id="12" idx="3"/>
          </p:cNvCxnSpPr>
          <p:nvPr/>
        </p:nvCxnSpPr>
        <p:spPr>
          <a:xfrm flipH="1">
            <a:off x="3833572" y="4146769"/>
            <a:ext cx="131917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DE8B7B4C-4794-AB54-7F31-BBF3428F3C05}"/>
              </a:ext>
            </a:extLst>
          </p:cNvPr>
          <p:cNvCxnSpPr>
            <a:stCxn id="12" idx="2"/>
            <a:endCxn id="14" idx="0"/>
          </p:cNvCxnSpPr>
          <p:nvPr/>
        </p:nvCxnSpPr>
        <p:spPr>
          <a:xfrm>
            <a:off x="2568042" y="4758469"/>
            <a:ext cx="0" cy="2603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80F517B3-AD31-F0B8-0002-0522AF556167}"/>
              </a:ext>
            </a:extLst>
          </p:cNvPr>
          <p:cNvCxnSpPr>
            <a:stCxn id="14" idx="3"/>
            <a:endCxn id="15" idx="1"/>
          </p:cNvCxnSpPr>
          <p:nvPr/>
        </p:nvCxnSpPr>
        <p:spPr>
          <a:xfrm>
            <a:off x="3833572" y="5630535"/>
            <a:ext cx="131917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ECB0BD2B-18F8-06F3-4949-B91A39DE4871}"/>
              </a:ext>
            </a:extLst>
          </p:cNvPr>
          <p:cNvCxnSpPr>
            <a:stCxn id="15" idx="3"/>
            <a:endCxn id="10" idx="1"/>
          </p:cNvCxnSpPr>
          <p:nvPr/>
        </p:nvCxnSpPr>
        <p:spPr>
          <a:xfrm>
            <a:off x="7683805" y="5630535"/>
            <a:ext cx="10192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19969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D19A4-7B1F-A07E-58DE-8410DB8F4A72}"/>
              </a:ext>
            </a:extLst>
          </p:cNvPr>
          <p:cNvSpPr>
            <a:spLocks noGrp="1"/>
          </p:cNvSpPr>
          <p:nvPr>
            <p:ph type="title"/>
          </p:nvPr>
        </p:nvSpPr>
        <p:spPr/>
        <p:txBody>
          <a:bodyPr/>
          <a:lstStyle/>
          <a:p>
            <a:r>
              <a:rPr lang="en-US" dirty="0">
                <a:latin typeface="Arial Black" panose="020B0A04020102020204" pitchFamily="34" charset="0"/>
                <a:cs typeface="Arial" panose="020B0604020202020204" pitchFamily="34" charset="0"/>
              </a:rPr>
              <a:t>TOOLS AND TECHNOLOGIES</a:t>
            </a:r>
          </a:p>
        </p:txBody>
      </p:sp>
      <p:pic>
        <p:nvPicPr>
          <p:cNvPr id="5" name="Content Placeholder 4">
            <a:extLst>
              <a:ext uri="{FF2B5EF4-FFF2-40B4-BE49-F238E27FC236}">
                <a16:creationId xmlns:a16="http://schemas.microsoft.com/office/drawing/2014/main" id="{61F1DB12-59FC-0751-AB5E-4192B87A384E}"/>
              </a:ext>
            </a:extLst>
          </p:cNvPr>
          <p:cNvPicPr>
            <a:picLocks noGrp="1" noChangeAspect="1"/>
          </p:cNvPicPr>
          <p:nvPr>
            <p:ph idx="1"/>
          </p:nvPr>
        </p:nvPicPr>
        <p:blipFill>
          <a:blip r:embed="rId2"/>
          <a:stretch>
            <a:fillRect/>
          </a:stretch>
        </p:blipFill>
        <p:spPr>
          <a:xfrm>
            <a:off x="933770" y="2195290"/>
            <a:ext cx="3381923" cy="1092216"/>
          </a:xfrm>
          <a:prstGeom prst="rect">
            <a:avLst/>
          </a:prstGeom>
        </p:spPr>
      </p:pic>
      <p:pic>
        <p:nvPicPr>
          <p:cNvPr id="7" name="Picture 6">
            <a:extLst>
              <a:ext uri="{FF2B5EF4-FFF2-40B4-BE49-F238E27FC236}">
                <a16:creationId xmlns:a16="http://schemas.microsoft.com/office/drawing/2014/main" id="{4A7E0EAB-7607-1098-148C-082F4DC36DAD}"/>
              </a:ext>
            </a:extLst>
          </p:cNvPr>
          <p:cNvPicPr>
            <a:picLocks noChangeAspect="1"/>
          </p:cNvPicPr>
          <p:nvPr/>
        </p:nvPicPr>
        <p:blipFill>
          <a:blip r:embed="rId3"/>
          <a:stretch>
            <a:fillRect/>
          </a:stretch>
        </p:blipFill>
        <p:spPr>
          <a:xfrm>
            <a:off x="4836918" y="1978243"/>
            <a:ext cx="2579124" cy="1450757"/>
          </a:xfrm>
          <a:prstGeom prst="rect">
            <a:avLst/>
          </a:prstGeom>
        </p:spPr>
      </p:pic>
      <p:pic>
        <p:nvPicPr>
          <p:cNvPr id="9" name="Picture 8">
            <a:extLst>
              <a:ext uri="{FF2B5EF4-FFF2-40B4-BE49-F238E27FC236}">
                <a16:creationId xmlns:a16="http://schemas.microsoft.com/office/drawing/2014/main" id="{38D6D8DF-7B60-9919-FE09-6AB1718376B3}"/>
              </a:ext>
            </a:extLst>
          </p:cNvPr>
          <p:cNvPicPr>
            <a:picLocks noChangeAspect="1"/>
          </p:cNvPicPr>
          <p:nvPr/>
        </p:nvPicPr>
        <p:blipFill>
          <a:blip r:embed="rId4"/>
          <a:stretch>
            <a:fillRect/>
          </a:stretch>
        </p:blipFill>
        <p:spPr>
          <a:xfrm>
            <a:off x="8193062" y="1503483"/>
            <a:ext cx="2613119" cy="2613119"/>
          </a:xfrm>
          <a:prstGeom prst="rect">
            <a:avLst/>
          </a:prstGeom>
        </p:spPr>
      </p:pic>
      <p:pic>
        <p:nvPicPr>
          <p:cNvPr id="11" name="Picture 10">
            <a:extLst>
              <a:ext uri="{FF2B5EF4-FFF2-40B4-BE49-F238E27FC236}">
                <a16:creationId xmlns:a16="http://schemas.microsoft.com/office/drawing/2014/main" id="{1D681ADE-D654-060E-6452-6CD2526A250A}"/>
              </a:ext>
            </a:extLst>
          </p:cNvPr>
          <p:cNvPicPr>
            <a:picLocks noChangeAspect="1"/>
          </p:cNvPicPr>
          <p:nvPr/>
        </p:nvPicPr>
        <p:blipFill>
          <a:blip r:embed="rId5"/>
          <a:stretch>
            <a:fillRect/>
          </a:stretch>
        </p:blipFill>
        <p:spPr>
          <a:xfrm>
            <a:off x="3737732" y="4116602"/>
            <a:ext cx="1822537" cy="1024671"/>
          </a:xfrm>
          <a:prstGeom prst="rect">
            <a:avLst/>
          </a:prstGeom>
        </p:spPr>
      </p:pic>
      <p:pic>
        <p:nvPicPr>
          <p:cNvPr id="13" name="Picture 12">
            <a:extLst>
              <a:ext uri="{FF2B5EF4-FFF2-40B4-BE49-F238E27FC236}">
                <a16:creationId xmlns:a16="http://schemas.microsoft.com/office/drawing/2014/main" id="{5022B420-BE81-CBAB-33BC-CF6D8163FA33}"/>
              </a:ext>
            </a:extLst>
          </p:cNvPr>
          <p:cNvPicPr>
            <a:picLocks noChangeAspect="1"/>
          </p:cNvPicPr>
          <p:nvPr/>
        </p:nvPicPr>
        <p:blipFill>
          <a:blip r:embed="rId6"/>
          <a:stretch>
            <a:fillRect/>
          </a:stretch>
        </p:blipFill>
        <p:spPr>
          <a:xfrm>
            <a:off x="384108" y="3960883"/>
            <a:ext cx="2375302" cy="1336107"/>
          </a:xfrm>
          <a:prstGeom prst="rect">
            <a:avLst/>
          </a:prstGeom>
        </p:spPr>
      </p:pic>
      <p:pic>
        <p:nvPicPr>
          <p:cNvPr id="15" name="Picture 14">
            <a:extLst>
              <a:ext uri="{FF2B5EF4-FFF2-40B4-BE49-F238E27FC236}">
                <a16:creationId xmlns:a16="http://schemas.microsoft.com/office/drawing/2014/main" id="{EB2529B8-BD08-C4F5-C338-C389662DA3AE}"/>
              </a:ext>
            </a:extLst>
          </p:cNvPr>
          <p:cNvPicPr>
            <a:picLocks noChangeAspect="1"/>
          </p:cNvPicPr>
          <p:nvPr/>
        </p:nvPicPr>
        <p:blipFill>
          <a:blip r:embed="rId7"/>
          <a:stretch>
            <a:fillRect/>
          </a:stretch>
        </p:blipFill>
        <p:spPr>
          <a:xfrm>
            <a:off x="9630732" y="4225556"/>
            <a:ext cx="1752298" cy="915717"/>
          </a:xfrm>
          <a:prstGeom prst="rect">
            <a:avLst/>
          </a:prstGeom>
        </p:spPr>
      </p:pic>
      <p:pic>
        <p:nvPicPr>
          <p:cNvPr id="17" name="Picture 16">
            <a:extLst>
              <a:ext uri="{FF2B5EF4-FFF2-40B4-BE49-F238E27FC236}">
                <a16:creationId xmlns:a16="http://schemas.microsoft.com/office/drawing/2014/main" id="{D62EBD46-0AC2-C96A-A9C0-3E13751B1A79}"/>
              </a:ext>
            </a:extLst>
          </p:cNvPr>
          <p:cNvPicPr>
            <a:picLocks noChangeAspect="1"/>
          </p:cNvPicPr>
          <p:nvPr/>
        </p:nvPicPr>
        <p:blipFill>
          <a:blip r:embed="rId8"/>
          <a:stretch>
            <a:fillRect/>
          </a:stretch>
        </p:blipFill>
        <p:spPr>
          <a:xfrm>
            <a:off x="6360291" y="3939642"/>
            <a:ext cx="2514666" cy="1320200"/>
          </a:xfrm>
          <a:prstGeom prst="rect">
            <a:avLst/>
          </a:prstGeom>
        </p:spPr>
      </p:pic>
    </p:spTree>
    <p:extLst>
      <p:ext uri="{BB962C8B-B14F-4D97-AF65-F5344CB8AC3E}">
        <p14:creationId xmlns:p14="http://schemas.microsoft.com/office/powerpoint/2010/main" val="3277407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95C88-408F-B94A-2278-F4732AB7A6F8}"/>
              </a:ext>
            </a:extLst>
          </p:cNvPr>
          <p:cNvSpPr>
            <a:spLocks noGrp="1"/>
          </p:cNvSpPr>
          <p:nvPr>
            <p:ph type="title"/>
          </p:nvPr>
        </p:nvSpPr>
        <p:spPr>
          <a:xfrm>
            <a:off x="1097280" y="286603"/>
            <a:ext cx="10058400" cy="1406729"/>
          </a:xfrm>
        </p:spPr>
        <p:txBody>
          <a:bodyPr/>
          <a:lstStyle/>
          <a:p>
            <a:r>
              <a:rPr lang="en-US" dirty="0">
                <a:latin typeface="Arial Black" panose="020B0A04020102020204" pitchFamily="34" charset="0"/>
              </a:rPr>
              <a:t>FEASIBILITY AND VIABILITY</a:t>
            </a:r>
          </a:p>
        </p:txBody>
      </p:sp>
      <p:graphicFrame>
        <p:nvGraphicFramePr>
          <p:cNvPr id="5" name="Content Placeholder 4">
            <a:extLst>
              <a:ext uri="{FF2B5EF4-FFF2-40B4-BE49-F238E27FC236}">
                <a16:creationId xmlns:a16="http://schemas.microsoft.com/office/drawing/2014/main" id="{C0699C2E-A4EF-FEF9-FFB1-DAD0B8EE9CAE}"/>
              </a:ext>
            </a:extLst>
          </p:cNvPr>
          <p:cNvGraphicFramePr>
            <a:graphicFrameLocks noGrp="1"/>
          </p:cNvGraphicFramePr>
          <p:nvPr>
            <p:ph idx="1"/>
            <p:extLst>
              <p:ext uri="{D42A27DB-BD31-4B8C-83A1-F6EECF244321}">
                <p14:modId xmlns:p14="http://schemas.microsoft.com/office/powerpoint/2010/main" val="2863724694"/>
              </p:ext>
            </p:extLst>
          </p:nvPr>
        </p:nvGraphicFramePr>
        <p:xfrm>
          <a:off x="1096963" y="1846263"/>
          <a:ext cx="10058400" cy="3465570"/>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1045581511"/>
                    </a:ext>
                  </a:extLst>
                </a:gridCol>
                <a:gridCol w="5029200">
                  <a:extLst>
                    <a:ext uri="{9D8B030D-6E8A-4147-A177-3AD203B41FA5}">
                      <a16:colId xmlns:a16="http://schemas.microsoft.com/office/drawing/2014/main" val="2685678363"/>
                    </a:ext>
                  </a:extLst>
                </a:gridCol>
              </a:tblGrid>
              <a:tr h="370840">
                <a:tc>
                  <a:txBody>
                    <a:bodyPr/>
                    <a:lstStyle/>
                    <a:p>
                      <a:r>
                        <a:rPr lang="en-US" sz="2400" b="1" dirty="0"/>
                        <a:t>FEASIBILITY </a:t>
                      </a:r>
                    </a:p>
                  </a:txBody>
                  <a:tcPr/>
                </a:tc>
                <a:tc>
                  <a:txBody>
                    <a:bodyPr/>
                    <a:lstStyle/>
                    <a:p>
                      <a:r>
                        <a:rPr lang="en-US" sz="2400" b="1" dirty="0"/>
                        <a:t>VIABILITY</a:t>
                      </a:r>
                    </a:p>
                  </a:txBody>
                  <a:tcPr/>
                </a:tc>
                <a:extLst>
                  <a:ext uri="{0D108BD9-81ED-4DB2-BD59-A6C34878D82A}">
                    <a16:rowId xmlns:a16="http://schemas.microsoft.com/office/drawing/2014/main" val="1128665022"/>
                  </a:ext>
                </a:extLst>
              </a:tr>
              <a:tr h="370840">
                <a:tc>
                  <a:txBody>
                    <a:bodyPr/>
                    <a:lstStyle/>
                    <a:p>
                      <a:pPr marL="285750" indent="-285750" algn="just">
                        <a:buFont typeface="Wingdings" panose="05000000000000000000" pitchFamily="2" charset="2"/>
                        <a:buChar char="Ø"/>
                      </a:pPr>
                      <a:r>
                        <a:rPr lang="en-US"/>
                        <a:t>VoIP Integration via Exotel</a:t>
                      </a:r>
                      <a:endParaRPr lang="en-US" dirty="0"/>
                    </a:p>
                  </a:txBody>
                  <a:tcPr/>
                </a:tc>
                <a:tc>
                  <a:txBody>
                    <a:bodyPr/>
                    <a:lstStyle/>
                    <a:p>
                      <a:pPr marL="285750" indent="-285750" algn="just">
                        <a:buFont typeface="Wingdings" panose="05000000000000000000" pitchFamily="2" charset="2"/>
                        <a:buChar char="Ø"/>
                      </a:pPr>
                      <a:r>
                        <a:rPr lang="en-US" dirty="0"/>
                        <a:t>Phone-call based banking access</a:t>
                      </a:r>
                    </a:p>
                  </a:txBody>
                  <a:tcPr/>
                </a:tc>
                <a:extLst>
                  <a:ext uri="{0D108BD9-81ED-4DB2-BD59-A6C34878D82A}">
                    <a16:rowId xmlns:a16="http://schemas.microsoft.com/office/drawing/2014/main" val="1668300837"/>
                  </a:ext>
                </a:extLst>
              </a:tr>
              <a:tr h="370840">
                <a:tc>
                  <a:txBody>
                    <a:bodyPr/>
                    <a:lstStyle/>
                    <a:p>
                      <a:pPr marL="285750" indent="-285750" algn="just">
                        <a:buFont typeface="Wingdings" panose="05000000000000000000" pitchFamily="2" charset="2"/>
                        <a:buChar char="Ø"/>
                      </a:pPr>
                      <a:r>
                        <a:rPr lang="en-US" b="0"/>
                        <a:t>Speech-to-Text Processing (AssemblyAI)</a:t>
                      </a:r>
                      <a:endParaRPr lang="en-US" b="0" dirty="0"/>
                    </a:p>
                  </a:txBody>
                  <a:tcPr/>
                </a:tc>
                <a:tc>
                  <a:txBody>
                    <a:bodyPr/>
                    <a:lstStyle/>
                    <a:p>
                      <a:pPr marL="285750" indent="-285750" algn="just">
                        <a:buFont typeface="Wingdings" panose="05000000000000000000" pitchFamily="2" charset="2"/>
                        <a:buChar char="Ø"/>
                      </a:pPr>
                      <a:r>
                        <a:rPr lang="en-US" dirty="0"/>
                        <a:t>Easy API integration with banks</a:t>
                      </a:r>
                    </a:p>
                  </a:txBody>
                  <a:tcPr/>
                </a:tc>
                <a:extLst>
                  <a:ext uri="{0D108BD9-81ED-4DB2-BD59-A6C34878D82A}">
                    <a16:rowId xmlns:a16="http://schemas.microsoft.com/office/drawing/2014/main" val="3907054682"/>
                  </a:ext>
                </a:extLst>
              </a:tr>
              <a:tr h="370840">
                <a:tc>
                  <a:txBody>
                    <a:bodyPr/>
                    <a:lstStyle/>
                    <a:p>
                      <a:pPr marL="285750" indent="-285750" algn="just">
                        <a:buFont typeface="Wingdings" panose="05000000000000000000" pitchFamily="2" charset="2"/>
                        <a:buChar char="Ø"/>
                      </a:pPr>
                      <a:r>
                        <a:rPr lang="en-US" b="0"/>
                        <a:t>AI Intent Processing (OpenAI)</a:t>
                      </a:r>
                      <a:endParaRPr lang="en-US" b="0" dirty="0"/>
                    </a:p>
                  </a:txBody>
                  <a:tcPr/>
                </a:tc>
                <a:tc>
                  <a:txBody>
                    <a:bodyPr/>
                    <a:lstStyle/>
                    <a:p>
                      <a:pPr marL="285750" indent="-285750" algn="just">
                        <a:buFont typeface="Wingdings" panose="05000000000000000000" pitchFamily="2" charset="2"/>
                        <a:buChar char="Ø"/>
                      </a:pPr>
                      <a:r>
                        <a:rPr lang="fr-FR" dirty="0"/>
                        <a:t>Uses </a:t>
                      </a:r>
                      <a:r>
                        <a:rPr lang="fr-FR" dirty="0" err="1"/>
                        <a:t>proven</a:t>
                      </a:r>
                      <a:r>
                        <a:rPr lang="fr-FR" dirty="0"/>
                        <a:t> AI </a:t>
                      </a:r>
                      <a:r>
                        <a:rPr lang="fr-FR" dirty="0" err="1"/>
                        <a:t>voice</a:t>
                      </a:r>
                      <a:r>
                        <a:rPr lang="fr-FR" dirty="0"/>
                        <a:t> technologies</a:t>
                      </a:r>
                      <a:endParaRPr lang="en-US" dirty="0"/>
                    </a:p>
                  </a:txBody>
                  <a:tcPr/>
                </a:tc>
                <a:extLst>
                  <a:ext uri="{0D108BD9-81ED-4DB2-BD59-A6C34878D82A}">
                    <a16:rowId xmlns:a16="http://schemas.microsoft.com/office/drawing/2014/main" val="1286748581"/>
                  </a:ext>
                </a:extLst>
              </a:tr>
              <a:tr h="370840">
                <a:tc>
                  <a:txBody>
                    <a:bodyPr/>
                    <a:lstStyle/>
                    <a:p>
                      <a:pPr marL="285750" indent="-285750" algn="just">
                        <a:buFont typeface="Wingdings" panose="05000000000000000000" pitchFamily="2" charset="2"/>
                        <a:buChar char="Ø"/>
                      </a:pPr>
                      <a:r>
                        <a:rPr lang="en-US" b="0"/>
                        <a:t>Natural Voice Response (ElevenLabs)</a:t>
                      </a:r>
                      <a:endParaRPr lang="en-US" b="0" dirty="0"/>
                    </a:p>
                  </a:txBody>
                  <a:tcPr/>
                </a:tc>
                <a:tc>
                  <a:txBody>
                    <a:bodyPr/>
                    <a:lstStyle/>
                    <a:p>
                      <a:pPr marL="285750" indent="-285750" algn="just">
                        <a:buFont typeface="Wingdings" panose="05000000000000000000" pitchFamily="2" charset="2"/>
                        <a:buChar char="Ø"/>
                      </a:pPr>
                      <a:r>
                        <a:rPr lang="en-US" dirty="0"/>
                        <a:t>Supports multiple languages</a:t>
                      </a:r>
                    </a:p>
                  </a:txBody>
                  <a:tcPr/>
                </a:tc>
                <a:extLst>
                  <a:ext uri="{0D108BD9-81ED-4DB2-BD59-A6C34878D82A}">
                    <a16:rowId xmlns:a16="http://schemas.microsoft.com/office/drawing/2014/main" val="4258246532"/>
                  </a:ext>
                </a:extLst>
              </a:tr>
              <a:tr h="370840">
                <a:tc>
                  <a:txBody>
                    <a:bodyPr/>
                    <a:lstStyle/>
                    <a:p>
                      <a:pPr marL="285750" indent="-285750" algn="just">
                        <a:buFont typeface="Wingdings" panose="05000000000000000000" pitchFamily="2" charset="2"/>
                        <a:buChar char="Ø"/>
                      </a:pPr>
                      <a:r>
                        <a:rPr lang="en-US" b="0"/>
                        <a:t>Flask-Based Banking Backend</a:t>
                      </a:r>
                      <a:endParaRPr lang="en-US" b="0" dirty="0"/>
                    </a:p>
                  </a:txBody>
                  <a:tcPr/>
                </a:tc>
                <a:tc>
                  <a:txBody>
                    <a:bodyPr/>
                    <a:lstStyle/>
                    <a:p>
                      <a:pPr marL="285750" indent="-285750" algn="just">
                        <a:buFont typeface="Wingdings" panose="05000000000000000000" pitchFamily="2" charset="2"/>
                        <a:buChar char="Ø"/>
                      </a:pPr>
                      <a:r>
                        <a:rPr lang="en-US" dirty="0"/>
                        <a:t>Reduces customer support load</a:t>
                      </a:r>
                    </a:p>
                  </a:txBody>
                  <a:tcPr/>
                </a:tc>
                <a:extLst>
                  <a:ext uri="{0D108BD9-81ED-4DB2-BD59-A6C34878D82A}">
                    <a16:rowId xmlns:a16="http://schemas.microsoft.com/office/drawing/2014/main" val="497463612"/>
                  </a:ext>
                </a:extLst>
              </a:tr>
              <a:tr h="417570">
                <a:tc>
                  <a:txBody>
                    <a:bodyPr/>
                    <a:lstStyle/>
                    <a:p>
                      <a:pPr marL="285750" indent="-285750" algn="just">
                        <a:buFont typeface="Wingdings" panose="05000000000000000000" pitchFamily="2" charset="2"/>
                        <a:buChar char="Ø"/>
                      </a:pPr>
                      <a:r>
                        <a:rPr lang="en-US" b="0"/>
                        <a:t>HTTP API Communication</a:t>
                      </a:r>
                      <a:endParaRPr lang="en-US" b="0" dirty="0"/>
                    </a:p>
                  </a:txBody>
                  <a:tcPr/>
                </a:tc>
                <a:tc>
                  <a:txBody>
                    <a:bodyPr/>
                    <a:lstStyle/>
                    <a:p>
                      <a:pPr marL="285750" indent="-285750" algn="just">
                        <a:buFont typeface="Wingdings" panose="05000000000000000000" pitchFamily="2" charset="2"/>
                        <a:buChar char="Ø"/>
                      </a:pPr>
                      <a:r>
                        <a:rPr lang="en-US" dirty="0"/>
                        <a:t>Low-cost cloud deployment</a:t>
                      </a:r>
                    </a:p>
                  </a:txBody>
                  <a:tcPr/>
                </a:tc>
                <a:extLst>
                  <a:ext uri="{0D108BD9-81ED-4DB2-BD59-A6C34878D82A}">
                    <a16:rowId xmlns:a16="http://schemas.microsoft.com/office/drawing/2014/main" val="2417853203"/>
                  </a:ext>
                </a:extLst>
              </a:tr>
              <a:tr h="370840">
                <a:tc>
                  <a:txBody>
                    <a:bodyPr/>
                    <a:lstStyle/>
                    <a:p>
                      <a:pPr marL="285750" indent="-285750" algn="just">
                        <a:buFont typeface="Wingdings" panose="05000000000000000000" pitchFamily="2" charset="2"/>
                        <a:buChar char="Ø"/>
                      </a:pPr>
                      <a:r>
                        <a:rPr lang="en-US" b="0"/>
                        <a:t>Real-Time Data Processing</a:t>
                      </a:r>
                      <a:endParaRPr lang="en-US" b="0" dirty="0"/>
                    </a:p>
                  </a:txBody>
                  <a:tcPr/>
                </a:tc>
                <a:tc>
                  <a:txBody>
                    <a:bodyPr/>
                    <a:lstStyle/>
                    <a:p>
                      <a:pPr marL="285750" indent="-285750" algn="just">
                        <a:buFont typeface="Wingdings" panose="05000000000000000000" pitchFamily="2" charset="2"/>
                        <a:buChar char="Ø"/>
                      </a:pPr>
                      <a:r>
                        <a:rPr lang="en-US" dirty="0"/>
                        <a:t>Easy adoption for banks</a:t>
                      </a:r>
                    </a:p>
                  </a:txBody>
                  <a:tcPr/>
                </a:tc>
                <a:extLst>
                  <a:ext uri="{0D108BD9-81ED-4DB2-BD59-A6C34878D82A}">
                    <a16:rowId xmlns:a16="http://schemas.microsoft.com/office/drawing/2014/main" val="2214011821"/>
                  </a:ext>
                </a:extLst>
              </a:tr>
              <a:tr h="347287">
                <a:tc>
                  <a:txBody>
                    <a:bodyPr/>
                    <a:lstStyle/>
                    <a:p>
                      <a:pPr marL="285750" indent="-285750" algn="just">
                        <a:buFont typeface="Wingdings" panose="05000000000000000000" pitchFamily="2" charset="2"/>
                        <a:buChar char="Ø"/>
                      </a:pPr>
                      <a:r>
                        <a:rPr lang="en-US" b="0" dirty="0"/>
                        <a:t>Modular AI Architecture</a:t>
                      </a:r>
                    </a:p>
                  </a:txBody>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dirty="0"/>
                        <a:t>Scalable user support</a:t>
                      </a:r>
                    </a:p>
                  </a:txBody>
                  <a:tcPr/>
                </a:tc>
                <a:extLst>
                  <a:ext uri="{0D108BD9-81ED-4DB2-BD59-A6C34878D82A}">
                    <a16:rowId xmlns:a16="http://schemas.microsoft.com/office/drawing/2014/main" val="3203978934"/>
                  </a:ext>
                </a:extLst>
              </a:tr>
            </a:tbl>
          </a:graphicData>
        </a:graphic>
      </p:graphicFrame>
    </p:spTree>
    <p:extLst>
      <p:ext uri="{BB962C8B-B14F-4D97-AF65-F5344CB8AC3E}">
        <p14:creationId xmlns:p14="http://schemas.microsoft.com/office/powerpoint/2010/main" val="2731515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76DDB-409D-DF26-BC40-3D5369880D0C}"/>
              </a:ext>
            </a:extLst>
          </p:cNvPr>
          <p:cNvSpPr>
            <a:spLocks noGrp="1"/>
          </p:cNvSpPr>
          <p:nvPr>
            <p:ph type="title"/>
          </p:nvPr>
        </p:nvSpPr>
        <p:spPr>
          <a:xfrm>
            <a:off x="1097280" y="286603"/>
            <a:ext cx="10058400" cy="1398263"/>
          </a:xfrm>
        </p:spPr>
        <p:txBody>
          <a:bodyPr/>
          <a:lstStyle/>
          <a:p>
            <a:r>
              <a:rPr lang="en-US" dirty="0">
                <a:latin typeface="Arial Black" panose="020B0A04020102020204" pitchFamily="34" charset="0"/>
              </a:rPr>
              <a:t>IMPACT AND BENEFITS </a:t>
            </a:r>
          </a:p>
        </p:txBody>
      </p:sp>
      <p:graphicFrame>
        <p:nvGraphicFramePr>
          <p:cNvPr id="4" name="Content Placeholder 3">
            <a:extLst>
              <a:ext uri="{FF2B5EF4-FFF2-40B4-BE49-F238E27FC236}">
                <a16:creationId xmlns:a16="http://schemas.microsoft.com/office/drawing/2014/main" id="{B492420C-FA7A-3FE4-56CE-FAEED6DDBD47}"/>
              </a:ext>
            </a:extLst>
          </p:cNvPr>
          <p:cNvGraphicFramePr>
            <a:graphicFrameLocks noGrp="1"/>
          </p:cNvGraphicFramePr>
          <p:nvPr>
            <p:ph idx="1"/>
            <p:extLst>
              <p:ext uri="{D42A27DB-BD31-4B8C-83A1-F6EECF244321}">
                <p14:modId xmlns:p14="http://schemas.microsoft.com/office/powerpoint/2010/main" val="2395310382"/>
              </p:ext>
            </p:extLst>
          </p:nvPr>
        </p:nvGraphicFramePr>
        <p:xfrm>
          <a:off x="1097280" y="2401146"/>
          <a:ext cx="10058400" cy="2714414"/>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1248891816"/>
                    </a:ext>
                  </a:extLst>
                </a:gridCol>
                <a:gridCol w="5029200">
                  <a:extLst>
                    <a:ext uri="{9D8B030D-6E8A-4147-A177-3AD203B41FA5}">
                      <a16:colId xmlns:a16="http://schemas.microsoft.com/office/drawing/2014/main" val="1781614923"/>
                    </a:ext>
                  </a:extLst>
                </a:gridCol>
              </a:tblGrid>
              <a:tr h="370840">
                <a:tc>
                  <a:txBody>
                    <a:bodyPr/>
                    <a:lstStyle/>
                    <a:p>
                      <a:r>
                        <a:rPr lang="en-US" b="1" dirty="0"/>
                        <a:t>                    </a:t>
                      </a:r>
                      <a:r>
                        <a:rPr lang="en-US" sz="2400" b="1" dirty="0"/>
                        <a:t>BEFORE THE SOLUTION</a:t>
                      </a:r>
                    </a:p>
                  </a:txBody>
                  <a:tcPr/>
                </a:tc>
                <a:tc>
                  <a:txBody>
                    <a:bodyPr/>
                    <a:lstStyle/>
                    <a:p>
                      <a:r>
                        <a:rPr lang="en-US" b="1" dirty="0"/>
                        <a:t>                     </a:t>
                      </a:r>
                      <a:r>
                        <a:rPr lang="en-US" sz="2400" b="1" dirty="0"/>
                        <a:t>AFTER THE SOLUTION</a:t>
                      </a:r>
                    </a:p>
                  </a:txBody>
                  <a:tcPr/>
                </a:tc>
                <a:extLst>
                  <a:ext uri="{0D108BD9-81ED-4DB2-BD59-A6C34878D82A}">
                    <a16:rowId xmlns:a16="http://schemas.microsoft.com/office/drawing/2014/main" val="3851292750"/>
                  </a:ext>
                </a:extLst>
              </a:tr>
              <a:tr h="589280">
                <a:tc>
                  <a:txBody>
                    <a:bodyPr/>
                    <a:lstStyle/>
                    <a:p>
                      <a:pPr marL="285750" indent="-285750">
                        <a:buFont typeface="Wingdings" panose="05000000000000000000" pitchFamily="2" charset="2"/>
                        <a:buChar char="Ø"/>
                      </a:pPr>
                      <a:r>
                        <a:rPr lang="en-US" dirty="0"/>
                        <a:t>Language barriers in digital banking services</a:t>
                      </a:r>
                    </a:p>
                  </a:txBody>
                  <a:tcPr/>
                </a:tc>
                <a:tc>
                  <a:txBody>
                    <a:bodyPr/>
                    <a:lstStyle/>
                    <a:p>
                      <a:pPr marL="285750" indent="-285750">
                        <a:buFont typeface="Wingdings" panose="05000000000000000000" pitchFamily="2" charset="2"/>
                        <a:buChar char="Ø"/>
                      </a:pPr>
                      <a:r>
                        <a:rPr lang="en-US" dirty="0"/>
                        <a:t>Voice-based banking through simple phone calls</a:t>
                      </a:r>
                    </a:p>
                  </a:txBody>
                  <a:tcPr/>
                </a:tc>
                <a:extLst>
                  <a:ext uri="{0D108BD9-81ED-4DB2-BD59-A6C34878D82A}">
                    <a16:rowId xmlns:a16="http://schemas.microsoft.com/office/drawing/2014/main" val="4279903948"/>
                  </a:ext>
                </a:extLst>
              </a:tr>
              <a:tr h="370840">
                <a:tc>
                  <a:txBody>
                    <a:bodyPr/>
                    <a:lstStyle/>
                    <a:p>
                      <a:pPr marL="285750" indent="-285750">
                        <a:buFont typeface="Wingdings" panose="05000000000000000000" pitchFamily="2" charset="2"/>
                        <a:buChar char="Ø"/>
                      </a:pPr>
                      <a:r>
                        <a:rPr lang="en-US" dirty="0"/>
                        <a:t>Difficult navigation for elderly and rural users</a:t>
                      </a:r>
                    </a:p>
                  </a:txBody>
                  <a:tcPr/>
                </a:tc>
                <a:tc>
                  <a:txBody>
                    <a:bodyPr/>
                    <a:lstStyle/>
                    <a:p>
                      <a:pPr marL="285750" indent="-285750">
                        <a:buFont typeface="Wingdings" panose="05000000000000000000" pitchFamily="2" charset="2"/>
                        <a:buChar char="Ø"/>
                      </a:pPr>
                      <a:r>
                        <a:rPr lang="en-US" dirty="0"/>
                        <a:t>Easy conversational interaction in regional languages</a:t>
                      </a:r>
                    </a:p>
                  </a:txBody>
                  <a:tcPr/>
                </a:tc>
                <a:extLst>
                  <a:ext uri="{0D108BD9-81ED-4DB2-BD59-A6C34878D82A}">
                    <a16:rowId xmlns:a16="http://schemas.microsoft.com/office/drawing/2014/main" val="596705210"/>
                  </a:ext>
                </a:extLst>
              </a:tr>
              <a:tr h="570653">
                <a:tc>
                  <a:txBody>
                    <a:bodyPr/>
                    <a:lstStyle/>
                    <a:p>
                      <a:pPr marL="285750" indent="-285750">
                        <a:buFont typeface="Wingdings" panose="05000000000000000000" pitchFamily="2" charset="2"/>
                        <a:buChar char="Ø"/>
                      </a:pPr>
                      <a:r>
                        <a:rPr lang="en-US" dirty="0"/>
                        <a:t>Limited access for visually impaired individuals</a:t>
                      </a:r>
                    </a:p>
                  </a:txBody>
                  <a:tcPr/>
                </a:tc>
                <a:tc>
                  <a:txBody>
                    <a:bodyPr/>
                    <a:lstStyle/>
                    <a:p>
                      <a:pPr marL="285750" indent="-285750">
                        <a:buFont typeface="Wingdings" panose="05000000000000000000" pitchFamily="2" charset="2"/>
                        <a:buChar char="Ø"/>
                      </a:pPr>
                      <a:r>
                        <a:rPr lang="en-US" dirty="0"/>
                        <a:t>Accessible banking for visually impaired users</a:t>
                      </a:r>
                    </a:p>
                  </a:txBody>
                  <a:tcPr/>
                </a:tc>
                <a:extLst>
                  <a:ext uri="{0D108BD9-81ED-4DB2-BD59-A6C34878D82A}">
                    <a16:rowId xmlns:a16="http://schemas.microsoft.com/office/drawing/2014/main" val="1659430420"/>
                  </a:ext>
                </a:extLst>
              </a:tr>
              <a:tr h="457201">
                <a:tc>
                  <a:txBody>
                    <a:bodyPr/>
                    <a:lstStyle/>
                    <a:p>
                      <a:pPr marL="285750" indent="-285750">
                        <a:buFont typeface="Wingdings" panose="05000000000000000000" pitchFamily="2" charset="2"/>
                        <a:buChar char="Ø"/>
                      </a:pPr>
                      <a:r>
                        <a:rPr lang="en-US" dirty="0"/>
                        <a:t>Long waiting time for customer support</a:t>
                      </a:r>
                    </a:p>
                  </a:txBody>
                  <a:tcPr/>
                </a:tc>
                <a:tc>
                  <a:txBody>
                    <a:bodyPr/>
                    <a:lstStyle/>
                    <a:p>
                      <a:pPr marL="285750" indent="-285750">
                        <a:buFont typeface="Wingdings" panose="05000000000000000000" pitchFamily="2" charset="2"/>
                        <a:buChar char="Ø"/>
                      </a:pPr>
                      <a:r>
                        <a:rPr lang="en-US" dirty="0"/>
                        <a:t>Instant AI-powered assistance available 24/7</a:t>
                      </a:r>
                    </a:p>
                  </a:txBody>
                  <a:tcPr/>
                </a:tc>
                <a:extLst>
                  <a:ext uri="{0D108BD9-81ED-4DB2-BD59-A6C34878D82A}">
                    <a16:rowId xmlns:a16="http://schemas.microsoft.com/office/drawing/2014/main" val="60725564"/>
                  </a:ext>
                </a:extLst>
              </a:tr>
            </a:tbl>
          </a:graphicData>
        </a:graphic>
      </p:graphicFrame>
    </p:spTree>
    <p:extLst>
      <p:ext uri="{BB962C8B-B14F-4D97-AF65-F5344CB8AC3E}">
        <p14:creationId xmlns:p14="http://schemas.microsoft.com/office/powerpoint/2010/main" val="346882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D5AD8-3D31-E5A8-2DF5-E89D6FEE469D}"/>
              </a:ext>
            </a:extLst>
          </p:cNvPr>
          <p:cNvSpPr>
            <a:spLocks noGrp="1"/>
          </p:cNvSpPr>
          <p:nvPr>
            <p:ph type="title"/>
          </p:nvPr>
        </p:nvSpPr>
        <p:spPr>
          <a:xfrm>
            <a:off x="1097280" y="286604"/>
            <a:ext cx="10058400" cy="1440596"/>
          </a:xfrm>
        </p:spPr>
        <p:txBody>
          <a:bodyPr/>
          <a:lstStyle/>
          <a:p>
            <a:r>
              <a:rPr lang="en-US" dirty="0">
                <a:latin typeface="Arial Black" panose="020B0A04020102020204" pitchFamily="34" charset="0"/>
              </a:rPr>
              <a:t>WHO BENEFITS FROM THIS ?</a:t>
            </a:r>
          </a:p>
        </p:txBody>
      </p:sp>
      <p:sp>
        <p:nvSpPr>
          <p:cNvPr id="3" name="Content Placeholder 2">
            <a:extLst>
              <a:ext uri="{FF2B5EF4-FFF2-40B4-BE49-F238E27FC236}">
                <a16:creationId xmlns:a16="http://schemas.microsoft.com/office/drawing/2014/main" id="{3D384589-37A6-F0FC-C7D4-CF89E4AFE722}"/>
              </a:ext>
            </a:extLst>
          </p:cNvPr>
          <p:cNvSpPr>
            <a:spLocks noGrp="1"/>
          </p:cNvSpPr>
          <p:nvPr>
            <p:ph idx="1"/>
          </p:nvPr>
        </p:nvSpPr>
        <p:spPr/>
        <p:txBody>
          <a:bodyPr/>
          <a:lstStyle/>
          <a:p>
            <a:pPr>
              <a:buFont typeface="Wingdings" panose="05000000000000000000" pitchFamily="2" charset="2"/>
              <a:buChar char="Ø"/>
            </a:pPr>
            <a:r>
              <a:rPr lang="en-US" b="1" dirty="0"/>
              <a:t>Rural Communities</a:t>
            </a:r>
            <a:r>
              <a:rPr lang="en-US" dirty="0"/>
              <a:t> – Access banking services using voice in their native language</a:t>
            </a:r>
          </a:p>
          <a:p>
            <a:pPr>
              <a:buFont typeface="Wingdings" panose="05000000000000000000" pitchFamily="2" charset="2"/>
              <a:buChar char="Ø"/>
            </a:pPr>
            <a:r>
              <a:rPr lang="en-US" b="1" dirty="0"/>
              <a:t>Elderly Users</a:t>
            </a:r>
            <a:r>
              <a:rPr lang="en-US" dirty="0"/>
              <a:t> – Simple voice interaction instead of complex mobile apps</a:t>
            </a:r>
          </a:p>
          <a:p>
            <a:pPr>
              <a:buFont typeface="Wingdings" panose="05000000000000000000" pitchFamily="2" charset="2"/>
              <a:buChar char="Ø"/>
            </a:pPr>
            <a:r>
              <a:rPr lang="en-US" b="1" dirty="0"/>
              <a:t>Visually Impaired Individuals</a:t>
            </a:r>
            <a:r>
              <a:rPr lang="en-US" dirty="0"/>
              <a:t> – Independent banking through voice assistance</a:t>
            </a:r>
          </a:p>
          <a:p>
            <a:pPr>
              <a:buFont typeface="Wingdings" panose="05000000000000000000" pitchFamily="2" charset="2"/>
              <a:buChar char="Ø"/>
            </a:pPr>
            <a:r>
              <a:rPr lang="en-US" b="1" dirty="0"/>
              <a:t>Non-English Speakers</a:t>
            </a:r>
            <a:r>
              <a:rPr lang="en-US" dirty="0"/>
              <a:t> – Banking support in regional languages</a:t>
            </a:r>
          </a:p>
          <a:p>
            <a:pPr>
              <a:buFont typeface="Wingdings" panose="05000000000000000000" pitchFamily="2" charset="2"/>
              <a:buChar char="Ø"/>
            </a:pPr>
            <a:r>
              <a:rPr lang="en-US" b="1" dirty="0"/>
              <a:t>Bank Customers</a:t>
            </a:r>
            <a:r>
              <a:rPr lang="en-US" dirty="0"/>
              <a:t> – Faster and easier banking interactions</a:t>
            </a:r>
          </a:p>
          <a:p>
            <a:pPr>
              <a:buFont typeface="Wingdings" panose="05000000000000000000" pitchFamily="2" charset="2"/>
              <a:buChar char="Ø"/>
            </a:pPr>
            <a:r>
              <a:rPr lang="en-US" b="1" dirty="0"/>
              <a:t>Banking Institutions</a:t>
            </a:r>
            <a:r>
              <a:rPr lang="en-US" dirty="0"/>
              <a:t> – Reduced customer support workload</a:t>
            </a:r>
          </a:p>
          <a:p>
            <a:pPr>
              <a:buFont typeface="Wingdings" panose="05000000000000000000" pitchFamily="2" charset="2"/>
              <a:buChar char="Ø"/>
            </a:pPr>
            <a:r>
              <a:rPr lang="en-US" b="1" dirty="0"/>
              <a:t>Customer Support Teams</a:t>
            </a:r>
            <a:r>
              <a:rPr lang="en-US" dirty="0"/>
              <a:t> – AI handles repetitive queries</a:t>
            </a:r>
          </a:p>
          <a:p>
            <a:pPr>
              <a:buFont typeface="Wingdings" panose="05000000000000000000" pitchFamily="2" charset="2"/>
              <a:buChar char="Ø"/>
            </a:pPr>
            <a:r>
              <a:rPr lang="en-US" b="1" dirty="0"/>
              <a:t>Financial Inclusion Programs</a:t>
            </a:r>
            <a:r>
              <a:rPr lang="en-US" dirty="0"/>
              <a:t> – Expands access to digital banking services</a:t>
            </a:r>
          </a:p>
          <a:p>
            <a:endParaRPr lang="en-US" dirty="0"/>
          </a:p>
        </p:txBody>
      </p:sp>
    </p:spTree>
    <p:extLst>
      <p:ext uri="{BB962C8B-B14F-4D97-AF65-F5344CB8AC3E}">
        <p14:creationId xmlns:p14="http://schemas.microsoft.com/office/powerpoint/2010/main" val="3189386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9EF73-CDB6-E4E9-32E9-849740FC3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5D7F2-FC35-CB6E-D016-0B7BBCBECFD8}"/>
              </a:ext>
            </a:extLst>
          </p:cNvPr>
          <p:cNvSpPr>
            <a:spLocks noGrp="1"/>
          </p:cNvSpPr>
          <p:nvPr>
            <p:ph type="title"/>
          </p:nvPr>
        </p:nvSpPr>
        <p:spPr>
          <a:xfrm>
            <a:off x="1097280" y="286604"/>
            <a:ext cx="10058400" cy="1440596"/>
          </a:xfrm>
        </p:spPr>
        <p:txBody>
          <a:bodyPr/>
          <a:lstStyle/>
          <a:p>
            <a:r>
              <a:rPr lang="en-US" dirty="0">
                <a:latin typeface="Arial Black" panose="020B0A04020102020204" pitchFamily="34" charset="0"/>
              </a:rPr>
              <a:t>IMPACT ON ECONOMY</a:t>
            </a:r>
          </a:p>
        </p:txBody>
      </p:sp>
      <p:sp>
        <p:nvSpPr>
          <p:cNvPr id="3" name="Content Placeholder 2">
            <a:extLst>
              <a:ext uri="{FF2B5EF4-FFF2-40B4-BE49-F238E27FC236}">
                <a16:creationId xmlns:a16="http://schemas.microsoft.com/office/drawing/2014/main" id="{568B4EF5-04C4-1177-A612-2E18FBD22631}"/>
              </a:ext>
            </a:extLst>
          </p:cNvPr>
          <p:cNvSpPr>
            <a:spLocks noGrp="1"/>
          </p:cNvSpPr>
          <p:nvPr>
            <p:ph idx="1"/>
          </p:nvPr>
        </p:nvSpPr>
        <p:spPr/>
        <p:txBody>
          <a:bodyPr/>
          <a:lstStyle/>
          <a:p>
            <a:pPr>
              <a:buFont typeface="Wingdings" panose="05000000000000000000" pitchFamily="2" charset="2"/>
              <a:buChar char="Ø"/>
            </a:pPr>
            <a:r>
              <a:rPr lang="en-US" dirty="0"/>
              <a:t>Increases financial inclusion in rural and underserved regions</a:t>
            </a:r>
          </a:p>
          <a:p>
            <a:pPr>
              <a:buFont typeface="Wingdings" panose="05000000000000000000" pitchFamily="2" charset="2"/>
              <a:buChar char="Ø"/>
            </a:pPr>
            <a:r>
              <a:rPr lang="en-US" dirty="0"/>
              <a:t>Reduces operational costs for banks through AI automation</a:t>
            </a:r>
          </a:p>
          <a:p>
            <a:pPr>
              <a:buFont typeface="Wingdings" panose="05000000000000000000" pitchFamily="2" charset="2"/>
              <a:buChar char="Ø"/>
            </a:pPr>
            <a:r>
              <a:rPr lang="en-US" dirty="0"/>
              <a:t>Decreases manpower requirements in banking call centers</a:t>
            </a:r>
          </a:p>
          <a:p>
            <a:pPr>
              <a:buFont typeface="Wingdings" panose="05000000000000000000" pitchFamily="2" charset="2"/>
              <a:buChar char="Ø"/>
            </a:pPr>
            <a:r>
              <a:rPr lang="en-US" dirty="0"/>
              <a:t>Improves efficiency of customer support services</a:t>
            </a:r>
          </a:p>
          <a:p>
            <a:pPr>
              <a:buFont typeface="Wingdings" panose="05000000000000000000" pitchFamily="2" charset="2"/>
              <a:buChar char="Ø"/>
            </a:pPr>
            <a:r>
              <a:rPr lang="en-US" dirty="0"/>
              <a:t>Encourages adoption of digital and voice-based banking</a:t>
            </a:r>
          </a:p>
          <a:p>
            <a:pPr>
              <a:buFont typeface="Wingdings" panose="05000000000000000000" pitchFamily="2" charset="2"/>
              <a:buChar char="Ø"/>
            </a:pPr>
            <a:r>
              <a:rPr lang="en-US" dirty="0"/>
              <a:t>Supports growth of AI-driven fintech solutions</a:t>
            </a:r>
          </a:p>
          <a:p>
            <a:pPr>
              <a:buFont typeface="Wingdings" panose="05000000000000000000" pitchFamily="2" charset="2"/>
              <a:buChar char="Ø"/>
            </a:pPr>
            <a:r>
              <a:rPr lang="en-US" dirty="0"/>
              <a:t>Enables faster banking services for large populations</a:t>
            </a:r>
          </a:p>
          <a:p>
            <a:pPr>
              <a:buFont typeface="Wingdings" panose="05000000000000000000" pitchFamily="2" charset="2"/>
              <a:buChar char="Ø"/>
            </a:pPr>
            <a:r>
              <a:rPr lang="en-US" dirty="0"/>
              <a:t>Strengthens the digital economy through accessible financial systems</a:t>
            </a:r>
          </a:p>
        </p:txBody>
      </p:sp>
    </p:spTree>
    <p:extLst>
      <p:ext uri="{BB962C8B-B14F-4D97-AF65-F5344CB8AC3E}">
        <p14:creationId xmlns:p14="http://schemas.microsoft.com/office/powerpoint/2010/main" val="2313734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47643-CF60-9202-0267-9699EC98C627}"/>
              </a:ext>
            </a:extLst>
          </p:cNvPr>
          <p:cNvSpPr>
            <a:spLocks noGrp="1"/>
          </p:cNvSpPr>
          <p:nvPr>
            <p:ph type="title"/>
          </p:nvPr>
        </p:nvSpPr>
        <p:spPr/>
        <p:txBody>
          <a:bodyPr/>
          <a:lstStyle/>
          <a:p>
            <a:r>
              <a:rPr lang="en-US" dirty="0">
                <a:latin typeface="Arial Black" panose="020B0A04020102020204" pitchFamily="34" charset="0"/>
              </a:rPr>
              <a:t>RESEARCH AND REFERENCES </a:t>
            </a:r>
          </a:p>
        </p:txBody>
      </p:sp>
      <p:sp>
        <p:nvSpPr>
          <p:cNvPr id="3" name="Content Placeholder 2">
            <a:extLst>
              <a:ext uri="{FF2B5EF4-FFF2-40B4-BE49-F238E27FC236}">
                <a16:creationId xmlns:a16="http://schemas.microsoft.com/office/drawing/2014/main" id="{4F081BCF-70A2-5A71-4690-016D743B2C13}"/>
              </a:ext>
            </a:extLst>
          </p:cNvPr>
          <p:cNvSpPr>
            <a:spLocks noGrp="1"/>
          </p:cNvSpPr>
          <p:nvPr>
            <p:ph idx="1"/>
          </p:nvPr>
        </p:nvSpPr>
        <p:spPr/>
        <p:txBody>
          <a:bodyPr>
            <a:noAutofit/>
          </a:bodyPr>
          <a:lstStyle/>
          <a:p>
            <a:r>
              <a:rPr lang="en-US" sz="1200" dirty="0"/>
              <a:t>➤ </a:t>
            </a:r>
            <a:r>
              <a:rPr lang="en-US" sz="1200" i="1" dirty="0"/>
              <a:t>“Conversational AI in Banking and Financial Services”</a:t>
            </a:r>
            <a:r>
              <a:rPr lang="en-US" sz="1200" dirty="0"/>
              <a:t> – IEEE Xplore</a:t>
            </a:r>
            <a:br>
              <a:rPr lang="en-US" sz="1200" dirty="0"/>
            </a:br>
            <a:r>
              <a:rPr lang="en-US" sz="1200" dirty="0"/>
              <a:t>https://ieeexplore.ieee.org/document/9154577</a:t>
            </a:r>
          </a:p>
          <a:p>
            <a:r>
              <a:rPr lang="en-US" sz="1200" dirty="0"/>
              <a:t>➤ </a:t>
            </a:r>
            <a:r>
              <a:rPr lang="en-US" sz="1200" i="1" dirty="0"/>
              <a:t>“Speech Recognition Systems for Human–Computer Interaction”</a:t>
            </a:r>
            <a:r>
              <a:rPr lang="en-US" sz="1200" dirty="0"/>
              <a:t> – IEEE Transactions on Audio, Speech and Language Processing</a:t>
            </a:r>
            <a:br>
              <a:rPr lang="en-US" sz="1200" dirty="0"/>
            </a:br>
            <a:r>
              <a:rPr lang="en-US" sz="1200" dirty="0"/>
              <a:t>https://ieeexplore.ieee.org</a:t>
            </a:r>
          </a:p>
          <a:p>
            <a:r>
              <a:rPr lang="en-US" sz="1200" dirty="0"/>
              <a:t>➤ </a:t>
            </a:r>
            <a:r>
              <a:rPr lang="en-US" sz="1200" i="1" dirty="0"/>
              <a:t>“Voice Assistants in Financial Services: Opportunities and Challenges”</a:t>
            </a:r>
            <a:r>
              <a:rPr lang="en-US" sz="1200" dirty="0"/>
              <a:t> – Springer Research Publications</a:t>
            </a:r>
            <a:br>
              <a:rPr lang="en-US" sz="1200" dirty="0"/>
            </a:br>
            <a:r>
              <a:rPr lang="en-US" sz="1200" dirty="0">
                <a:hlinkClick r:id="rId2"/>
              </a:rPr>
              <a:t>https://link.springer.com</a:t>
            </a:r>
            <a:endParaRPr lang="en-US" sz="1200" dirty="0"/>
          </a:p>
          <a:p>
            <a:r>
              <a:rPr lang="en-US" sz="1200" dirty="0"/>
              <a:t>➤ </a:t>
            </a:r>
            <a:r>
              <a:rPr lang="en-US" sz="1200" i="1" dirty="0"/>
              <a:t>“Natural Language Processing for Financial Applications”</a:t>
            </a:r>
            <a:r>
              <a:rPr lang="en-US" sz="1200" dirty="0"/>
              <a:t> – ACM Digital Library</a:t>
            </a:r>
            <a:br>
              <a:rPr lang="en-US" sz="1200" dirty="0"/>
            </a:br>
            <a:r>
              <a:rPr lang="en-US" sz="1200" dirty="0">
                <a:hlinkClick r:id="rId3"/>
              </a:rPr>
              <a:t>https://dl.acm.org</a:t>
            </a:r>
            <a:endParaRPr lang="en-US" sz="1200" b="1" dirty="0"/>
          </a:p>
          <a:p>
            <a:r>
              <a:rPr lang="en-US" sz="1200" dirty="0"/>
              <a:t>➤ </a:t>
            </a:r>
            <a:r>
              <a:rPr lang="en-US" sz="1200" dirty="0" err="1"/>
              <a:t>AssemblyAI</a:t>
            </a:r>
            <a:r>
              <a:rPr lang="en-US" sz="1200" dirty="0"/>
              <a:t> Speech-to-Text Documentation</a:t>
            </a:r>
            <a:br>
              <a:rPr lang="en-US" sz="1200" dirty="0"/>
            </a:br>
            <a:r>
              <a:rPr lang="en-US" sz="1200" dirty="0">
                <a:hlinkClick r:id="rId4"/>
              </a:rPr>
              <a:t>https://www.assemblyai.com/docs</a:t>
            </a:r>
            <a:endParaRPr lang="en-US" sz="1200" dirty="0"/>
          </a:p>
          <a:p>
            <a:r>
              <a:rPr lang="en-US" sz="1200" dirty="0"/>
              <a:t>➤ OpenAI API Documentation</a:t>
            </a:r>
            <a:br>
              <a:rPr lang="en-US" sz="1200" dirty="0"/>
            </a:br>
            <a:r>
              <a:rPr lang="en-US" sz="1200" dirty="0">
                <a:hlinkClick r:id="rId5"/>
              </a:rPr>
              <a:t>https://platform.openai.com/docs</a:t>
            </a:r>
            <a:endParaRPr lang="en-US" sz="1200" dirty="0"/>
          </a:p>
          <a:p>
            <a:r>
              <a:rPr lang="en-US" sz="1200" dirty="0"/>
              <a:t>➤ </a:t>
            </a:r>
            <a:r>
              <a:rPr lang="en-US" sz="1200" dirty="0" err="1"/>
              <a:t>ElevenLabs</a:t>
            </a:r>
            <a:r>
              <a:rPr lang="en-US" sz="1200" dirty="0"/>
              <a:t> Text-to-Speech Documentation</a:t>
            </a:r>
            <a:br>
              <a:rPr lang="en-US" sz="1200" dirty="0"/>
            </a:br>
            <a:r>
              <a:rPr lang="en-US" sz="1200" dirty="0">
                <a:hlinkClick r:id="rId6"/>
              </a:rPr>
              <a:t>https://docs.elevenlabs.io</a:t>
            </a:r>
            <a:endParaRPr lang="en-US" sz="1200" dirty="0"/>
          </a:p>
          <a:p>
            <a:r>
              <a:rPr lang="en-US" sz="1200" dirty="0"/>
              <a:t>➤ </a:t>
            </a:r>
            <a:r>
              <a:rPr lang="en-US" sz="1200" dirty="0" err="1"/>
              <a:t>Exotel</a:t>
            </a:r>
            <a:r>
              <a:rPr lang="en-US" sz="1200" dirty="0"/>
              <a:t> Voice API Documentation</a:t>
            </a:r>
            <a:br>
              <a:rPr lang="en-US" sz="1200" dirty="0"/>
            </a:br>
            <a:r>
              <a:rPr lang="en-US" sz="1200" dirty="0">
                <a:hlinkClick r:id="rId7"/>
              </a:rPr>
              <a:t>https://developer.exotel.com</a:t>
            </a:r>
            <a:endParaRPr lang="en-US" sz="1200" dirty="0"/>
          </a:p>
          <a:p>
            <a:r>
              <a:rPr lang="en-US" sz="1200" dirty="0"/>
              <a:t>➤ Flask Web Framework Documentation</a:t>
            </a:r>
            <a:br>
              <a:rPr lang="en-US" sz="1200" dirty="0"/>
            </a:br>
            <a:r>
              <a:rPr lang="en-US" sz="1200" dirty="0">
                <a:hlinkClick r:id="rId8"/>
              </a:rPr>
              <a:t>https://flask.palletsprojects.com</a:t>
            </a:r>
            <a:endParaRPr lang="en-US" sz="1200" dirty="0"/>
          </a:p>
          <a:p>
            <a:endParaRPr lang="en-US" sz="1200" dirty="0"/>
          </a:p>
        </p:txBody>
      </p:sp>
    </p:spTree>
    <p:extLst>
      <p:ext uri="{BB962C8B-B14F-4D97-AF65-F5344CB8AC3E}">
        <p14:creationId xmlns:p14="http://schemas.microsoft.com/office/powerpoint/2010/main" val="2927512031"/>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190</TotalTime>
  <Words>739</Words>
  <Application>Microsoft Office PowerPoint</Application>
  <PresentationFormat>Widescreen</PresentationFormat>
  <Paragraphs>81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Agency FB</vt:lpstr>
      <vt:lpstr>Arial Black</vt:lpstr>
      <vt:lpstr>Calibri</vt:lpstr>
      <vt:lpstr>Calibri Light</vt:lpstr>
      <vt:lpstr>Wingdings</vt:lpstr>
      <vt:lpstr>Retrospect</vt:lpstr>
      <vt:lpstr>AI-Driven Multilingual Conversational Banking Assistant</vt:lpstr>
      <vt:lpstr>SOLUTION </vt:lpstr>
      <vt:lpstr>INNOVATION</vt:lpstr>
      <vt:lpstr>TECHNICAL APPROACH</vt:lpstr>
      <vt:lpstr>TOOLS AND TECHNOLOGIES</vt:lpstr>
      <vt:lpstr>FEASIBILITY AND VIABILITY</vt:lpstr>
      <vt:lpstr>IMPACT AND BENEFITS </vt:lpstr>
      <vt:lpstr>WHO BENEFITS FROM THIS ?</vt:lpstr>
      <vt:lpstr>IMPACT ON ECONOMY</vt:lpstr>
      <vt:lpstr>RESEARCH AND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Rajmohan Ramasamy</dc:creator>
  <cp:lastModifiedBy>Rajmohan Ramasamy</cp:lastModifiedBy>
  <cp:revision>5</cp:revision>
  <dcterms:created xsi:type="dcterms:W3CDTF">2026-03-08T12:53:41Z</dcterms:created>
  <dcterms:modified xsi:type="dcterms:W3CDTF">2026-03-08T16:23:28Z</dcterms:modified>
</cp:coreProperties>
</file>